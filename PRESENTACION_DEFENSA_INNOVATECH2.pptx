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y Bello" userId="9f8eec3488bad4c5" providerId="LiveId" clId="{8AC2BF2B-76D7-4EF8-B210-2311C8B1AB77}"/>
    <pc:docChg chg="custSel modSld">
      <pc:chgData name="Maty Bello" userId="9f8eec3488bad4c5" providerId="LiveId" clId="{8AC2BF2B-76D7-4EF8-B210-2311C8B1AB77}" dt="2026-06-17T00:16:14.444" v="49" actId="1076"/>
      <pc:docMkLst>
        <pc:docMk/>
      </pc:docMkLst>
      <pc:sldChg chg="addSp delSp modSp mod">
        <pc:chgData name="Maty Bello" userId="9f8eec3488bad4c5" providerId="LiveId" clId="{8AC2BF2B-76D7-4EF8-B210-2311C8B1AB77}" dt="2026-06-17T00:16:14.444" v="49" actId="1076"/>
        <pc:sldMkLst>
          <pc:docMk/>
          <pc:sldMk cId="0" sldId="264"/>
        </pc:sldMkLst>
        <pc:spChg chg="mod">
          <ac:chgData name="Maty Bello" userId="9f8eec3488bad4c5" providerId="LiveId" clId="{8AC2BF2B-76D7-4EF8-B210-2311C8B1AB77}" dt="2026-06-17T00:16:14.444" v="49" actId="1076"/>
          <ac:spMkLst>
            <pc:docMk/>
            <pc:sldMk cId="0" sldId="264"/>
            <ac:spMk id="9" creationId="{00000000-0000-0000-0000-000000000000}"/>
          </ac:spMkLst>
        </pc:spChg>
        <pc:picChg chg="del">
          <ac:chgData name="Maty Bello" userId="9f8eec3488bad4c5" providerId="LiveId" clId="{8AC2BF2B-76D7-4EF8-B210-2311C8B1AB77}" dt="2026-06-16T23:59:18.502" v="0" actId="478"/>
          <ac:picMkLst>
            <pc:docMk/>
            <pc:sldMk cId="0" sldId="264"/>
            <ac:picMk id="4" creationId="{00000000-0000-0000-0000-000000000000}"/>
          </ac:picMkLst>
        </pc:picChg>
        <pc:picChg chg="del">
          <ac:chgData name="Maty Bello" userId="9f8eec3488bad4c5" providerId="LiveId" clId="{8AC2BF2B-76D7-4EF8-B210-2311C8B1AB77}" dt="2026-06-16T23:59:27.795" v="4" actId="478"/>
          <ac:picMkLst>
            <pc:docMk/>
            <pc:sldMk cId="0" sldId="264"/>
            <ac:picMk id="6" creationId="{00000000-0000-0000-0000-000000000000}"/>
          </ac:picMkLst>
        </pc:picChg>
        <pc:picChg chg="add mod">
          <ac:chgData name="Maty Bello" userId="9f8eec3488bad4c5" providerId="LiveId" clId="{8AC2BF2B-76D7-4EF8-B210-2311C8B1AB77}" dt="2026-06-17T00:16:11.137" v="48" actId="1076"/>
          <ac:picMkLst>
            <pc:docMk/>
            <pc:sldMk cId="0" sldId="264"/>
            <ac:picMk id="6" creationId="{5878A39D-250F-7642-5A26-D1389AF6BE1A}"/>
          </ac:picMkLst>
        </pc:picChg>
        <pc:picChg chg="del mod">
          <ac:chgData name="Maty Bello" userId="9f8eec3488bad4c5" providerId="LiveId" clId="{8AC2BF2B-76D7-4EF8-B210-2311C8B1AB77}" dt="2026-06-17T00:12:34.234" v="14" actId="478"/>
          <ac:picMkLst>
            <pc:docMk/>
            <pc:sldMk cId="0" sldId="264"/>
            <ac:picMk id="8" creationId="{00000000-0000-0000-0000-000000000000}"/>
          </ac:picMkLst>
        </pc:picChg>
        <pc:picChg chg="add mod">
          <ac:chgData name="Maty Bello" userId="9f8eec3488bad4c5" providerId="LiveId" clId="{8AC2BF2B-76D7-4EF8-B210-2311C8B1AB77}" dt="2026-06-17T00:13:05.428" v="29" actId="1076"/>
          <ac:picMkLst>
            <pc:docMk/>
            <pc:sldMk cId="0" sldId="264"/>
            <ac:picMk id="11" creationId="{5F2091DC-06B0-BEA4-7BDC-C7D23DB9CAE0}"/>
          </ac:picMkLst>
        </pc:picChg>
        <pc:picChg chg="add del mod">
          <ac:chgData name="Maty Bello" userId="9f8eec3488bad4c5" providerId="LiveId" clId="{8AC2BF2B-76D7-4EF8-B210-2311C8B1AB77}" dt="2026-06-17T00:16:09.889" v="47" actId="478"/>
          <ac:picMkLst>
            <pc:docMk/>
            <pc:sldMk cId="0" sldId="264"/>
            <ac:picMk id="12" creationId="{72E2227C-214E-D9B5-A351-32E661A11877}"/>
          </ac:picMkLst>
        </pc:picChg>
        <pc:picChg chg="add mod">
          <ac:chgData name="Maty Bello" userId="9f8eec3488bad4c5" providerId="LiveId" clId="{8AC2BF2B-76D7-4EF8-B210-2311C8B1AB77}" dt="2026-06-17T00:13:09.210" v="32" actId="1076"/>
          <ac:picMkLst>
            <pc:docMk/>
            <pc:sldMk cId="0" sldId="264"/>
            <ac:picMk id="13" creationId="{3A2B782D-DC4F-F2F7-6A4B-0F8ADF0E7A4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F6FC"/>
                </a:solidFill>
                <a:latin typeface="Arial"/>
              </a:defRPr>
            </a:pPr>
            <a:r>
              <a:t>Integración de Arquitectura de Microservicios</a:t>
            </a:r>
          </a:p>
          <a:p>
            <a:pPr>
              <a:spcBef>
                <a:spcPts val="1000"/>
              </a:spcBef>
              <a:defRPr sz="2000">
                <a:solidFill>
                  <a:srgbClr val="218C8C"/>
                </a:solidFill>
                <a:latin typeface="Arial"/>
              </a:defRPr>
            </a:pPr>
            <a:r>
              <a:t>Innovatech Solutions — Plataforma Inteligente de Gestión (EV3)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87878"/>
                </a:solidFill>
                <a:latin typeface="Arial"/>
              </a:defRPr>
            </a:pPr>
            <a:r>
              <a:t>Asignatura: Desarrollo Fullstack III (DSY1106)</a:t>
            </a:r>
          </a:p>
          <a:p>
            <a:pPr>
              <a:spcBef>
                <a:spcPts val="800"/>
              </a:spcBef>
              <a:defRPr sz="1400" b="1">
                <a:solidFill>
                  <a:srgbClr val="F0F6FC"/>
                </a:solidFill>
                <a:latin typeface="Arial"/>
              </a:defRPr>
            </a:pPr>
            <a:r>
              <a:t>Integrantes: Matías Mercado, Matías Bello</a:t>
            </a:r>
          </a:p>
          <a:p>
            <a:pPr>
              <a:spcBef>
                <a:spcPts val="600"/>
              </a:spcBef>
              <a:defRPr sz="1200">
                <a:solidFill>
                  <a:srgbClr val="787878"/>
                </a:solidFill>
                <a:latin typeface="Arial"/>
              </a:defRPr>
            </a:pPr>
            <a:r>
              <a:t>Evaluación Parcial 3 — Junio,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Arial"/>
              </a:defRPr>
            </a:pPr>
            <a:r>
              <a:t>Problemática y Objetivos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218C8C"/>
          </a:solidFill>
          <a:ln>
            <a:solidFill>
              <a:srgbClr val="21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4E79"/>
                </a:solidFill>
                <a:latin typeface="Arial"/>
              </a:defRPr>
            </a:pPr>
            <a:r>
              <a:t>La Problemática de Innovatech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• Dificultad en el Control Operativo:</a:t>
            </a:r>
            <a:r>
              <a:rPr sz="1200" b="0">
                <a:solidFill>
                  <a:srgbClr val="333333"/>
                </a:solidFill>
                <a:latin typeface="Arial"/>
              </a:rPr>
              <a:t> La directiva carecía de trazabilidad real sobre el avance granular de tareas dentro de los proyectos.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• Desorganización en Asignaciones:</a:t>
            </a:r>
            <a:r>
              <a:rPr sz="1200" b="0">
                <a:solidFill>
                  <a:srgbClr val="333333"/>
                </a:solidFill>
                <a:latin typeface="Arial"/>
              </a:rPr>
              <a:t> Falta de un registro único de empleados asignados a tareas específicas y sus estados de disponibilidad.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• Cálculo Manual de Indicadores:</a:t>
            </a:r>
            <a:r>
              <a:rPr sz="1200" b="0">
                <a:solidFill>
                  <a:srgbClr val="333333"/>
                </a:solidFill>
                <a:latin typeface="Arial"/>
              </a:rPr>
              <a:t> Los reportes de KPIs y porcentaje de cumplimiento se calculaban manualmente en planillas, generando demoras y errores.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• Seguridad Vulnerable:</a:t>
            </a:r>
            <a:r>
              <a:rPr sz="1200" b="0">
                <a:solidFill>
                  <a:srgbClr val="333333"/>
                </a:solidFill>
                <a:latin typeface="Arial"/>
              </a:rPr>
              <a:t> Inexistencia de un control de roles jerárquicos seguro para separar acciones administrativas de jefaturas y usuarios lectura.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18C8C"/>
                </a:solidFill>
                <a:latin typeface="Arial"/>
              </a:defRPr>
            </a:pPr>
            <a:r>
              <a:t>Objetivos Técnicos (EV3)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218C8C"/>
                </a:solidFill>
                <a:latin typeface="Arial"/>
              </a:rPr>
              <a:t>• Migrar a Arquitectura Desacoplada:</a:t>
            </a:r>
            <a:r>
              <a:rPr sz="1200" b="0">
                <a:solidFill>
                  <a:srgbClr val="333333"/>
                </a:solidFill>
                <a:latin typeface="Arial"/>
              </a:rPr>
              <a:t> Diseñar un esquema de microservicios con base de datos independiente por servicio (</a:t>
            </a:r>
            <a:r>
              <a:rPr sz="1200" b="1">
                <a:solidFill>
                  <a:srgbClr val="218C8C"/>
                </a:solidFill>
                <a:latin typeface="Arial"/>
              </a:rPr>
              <a:t>Database-per-Service</a:t>
            </a:r>
            <a:r>
              <a:rPr sz="1200" b="0">
                <a:solidFill>
                  <a:srgbClr val="333333"/>
                </a:solidFill>
                <a:latin typeface="Arial"/>
              </a:rPr>
              <a:t>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218C8C"/>
                </a:solidFill>
                <a:latin typeface="Arial"/>
              </a:rPr>
              <a:t>• Integrar Flujo Operativo:</a:t>
            </a:r>
            <a:r>
              <a:rPr sz="1200" b="0">
                <a:solidFill>
                  <a:srgbClr val="333333"/>
                </a:solidFill>
                <a:latin typeface="Arial"/>
              </a:rPr>
              <a:t> Agregar la gestión de tareas (`ms-tareas`), vinculando proyectos, responsables y avance de forma dinámica.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218C8C"/>
                </a:solidFill>
                <a:latin typeface="Arial"/>
              </a:rPr>
              <a:t>• Calcular KPIs Automáticos:</a:t>
            </a:r>
            <a:r>
              <a:rPr sz="1200" b="0">
                <a:solidFill>
                  <a:srgbClr val="333333"/>
                </a:solidFill>
                <a:latin typeface="Arial"/>
              </a:rPr>
              <a:t> Proveer endpoints ejecutivos para calcular promedios de avance y estados a nivel general, por proyecto y por recurso.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218C8C"/>
                </a:solidFill>
                <a:latin typeface="Arial"/>
              </a:rPr>
              <a:t>• Garantizar Calidad Técnica:</a:t>
            </a:r>
            <a:r>
              <a:rPr sz="1200" b="0">
                <a:solidFill>
                  <a:srgbClr val="333333"/>
                </a:solidFill>
                <a:latin typeface="Arial"/>
              </a:rPr>
              <a:t> Superar el </a:t>
            </a:r>
            <a:r>
              <a:rPr sz="1200" b="1">
                <a:solidFill>
                  <a:srgbClr val="218C8C"/>
                </a:solidFill>
                <a:latin typeface="Arial"/>
              </a:rPr>
              <a:t>60% de cobertura</a:t>
            </a:r>
            <a:r>
              <a:rPr sz="1200" b="0">
                <a:solidFill>
                  <a:srgbClr val="333333"/>
                </a:solidFill>
                <a:latin typeface="Arial"/>
              </a:rPr>
              <a:t> de pruebas unitarias locales (JaCoCo) y validar la calidad estática en SonarQube.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Arial"/>
              </a:defRPr>
            </a:pPr>
            <a:r>
              <a:t>Propuesta de Arquitectura de Microservicios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218C8C"/>
          </a:solidFill>
          <a:ln>
            <a:solidFill>
              <a:srgbClr val="21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iagrama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6692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4E79"/>
                </a:solidFill>
                <a:latin typeface="Arial"/>
              </a:defRPr>
            </a:pPr>
            <a:r>
              <a:t>Infraestructura y Ruteo de Datos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• API Gateway (MVC - Puerto 8085):</a:t>
            </a:r>
            <a:r>
              <a:rPr sz="1200" b="0">
                <a:solidFill>
                  <a:srgbClr val="333333"/>
                </a:solidFill>
                <a:latin typeface="Arial"/>
              </a:rPr>
              <a:t> Funciona como punto único de entrada técnico. Oculta los puertos internos de los microservicios y enruta peticiones usando predicados de ruta (`/api/auth/</a:t>
            </a:r>
            <a:r>
              <a:rPr sz="1200" b="1">
                <a:solidFill>
                  <a:srgbClr val="1F4E79"/>
                </a:solidFill>
                <a:latin typeface="Arial"/>
              </a:rPr>
              <a:t>` hacia `ms-auth`, etc.).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• BFF - Backend For Frontend (Puerto 8084):</a:t>
            </a:r>
            <a:r>
              <a:rPr sz="1200" b="0">
                <a:solidFill>
                  <a:srgbClr val="333333"/>
                </a:solidFill>
                <a:latin typeface="Arial"/>
              </a:rPr>
              <a:t> Orquestador exclusivo de la interfaz React. Consulta internamente a múltiples microservicios de forma asíncrona, unifica la respuesta y la envía depurada al cliente.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• Desacoplamiento Completo (Shared-Nothing):</a:t>
            </a:r>
            <a:r>
              <a:rPr sz="1200" b="0">
                <a:solidFill>
                  <a:srgbClr val="333333"/>
                </a:solidFill>
                <a:latin typeface="Arial"/>
              </a:rPr>
              <a:t> Cuatro microservicios autónomos (`ms-auth`, `ms-proyectos`, `ms-recursos` y el nuevo `ms-tareas`) con sus respectivos entornos de compilación Maven y Dockerfiles.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1F4E79"/>
                </a:solidFill>
                <a:latin typeface="Arial"/>
              </a:rPr>
              <a:t>• Publicación en Nginx (Puerto 3000):</a:t>
            </a:r>
            <a:r>
              <a:rPr sz="1200" b="0">
                <a:solidFill>
                  <a:srgbClr val="333333"/>
                </a:solidFill>
                <a:latin typeface="Arial"/>
              </a:rPr>
              <a:t> El frontend React se empaqueta y se publica usando un servidor Nginx ligero dentro de Docker para máximo rendimiento.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Arial"/>
              </a:defRPr>
            </a:pPr>
            <a:r>
              <a:t>Persistencia Aislada y Relaciones Lógicas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218C8C"/>
          </a:solidFill>
          <a:ln>
            <a:solidFill>
              <a:srgbClr val="21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4E79"/>
                </a:solidFill>
                <a:latin typeface="Arial"/>
              </a:defRPr>
            </a:pPr>
            <a:r>
              <a:t>Modelo Database-per-Service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• Motor en Memoria H2 Database:</a:t>
            </a:r>
            <a:r>
              <a:rPr sz="1250" b="0">
                <a:solidFill>
                  <a:srgbClr val="333333"/>
                </a:solidFill>
                <a:latin typeface="Arial"/>
              </a:rPr>
              <a:t> Utilizado en todos los servicios de forma aislada. Permite ciclos de desarrollo ágiles, pruebas unitarias veloces y total independencia de bases de datos locales.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• ORM Spring Data JPA + Hibernate:</a:t>
            </a:r>
            <a:r>
              <a:rPr sz="1250" b="0">
                <a:solidFill>
                  <a:srgbClr val="333333"/>
                </a:solidFill>
                <a:latin typeface="Arial"/>
              </a:rPr>
              <a:t> Mapeo automático de entidades Java a base de datos SQL H2. Se definen esquemas con `ddl-auto=update` para levantar estructuras automáticamente al compilar.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• Inexistencia de Restricciones Físicas (FK):</a:t>
            </a:r>
            <a:r>
              <a:rPr sz="1250" b="0">
                <a:solidFill>
                  <a:srgbClr val="333333"/>
                </a:solidFill>
                <a:latin typeface="Arial"/>
              </a:rPr>
              <a:t> Para evitar el acoplamiento rígido, los microservicios no comparten llaves foráneas a nivel de motor de base de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18C8C"/>
                </a:solidFill>
                <a:latin typeface="Arial"/>
              </a:defRPr>
            </a:pPr>
            <a:r>
              <a:t>Ejemplo Práctico de Desacoplamiento</a:t>
            </a:r>
          </a:p>
          <a:p>
            <a:pPr>
              <a:spcAft>
                <a:spcPts val="1000"/>
              </a:spcAft>
              <a:defRPr sz="1200" i="1"/>
            </a:pPr>
            <a:r>
              <a:t>La entidad Tarea en ms-tareas no hace un join físico con la tabla Proyectos de ms-proyectos. Guarda la referencia lógica: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560320"/>
            <a:ext cx="5303520" cy="2926080"/>
          </a:xfrm>
          <a:prstGeom prst="rect">
            <a:avLst/>
          </a:prstGeom>
          <a:solidFill>
            <a:srgbClr val="F8F9FA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tlCol="0" anchor="ctr"/>
          <a:lstStyle/>
          <a:p>
            <a:pPr algn="l">
              <a:defRPr sz="1000">
                <a:solidFill>
                  <a:srgbClr val="333333"/>
                </a:solidFill>
                <a:latin typeface="Consolas"/>
              </a:defRPr>
            </a:pPr>
            <a:r>
              <a:t>@Entity</a:t>
            </a:r>
          </a:p>
          <a:p>
            <a:pPr algn="l">
              <a:defRPr sz="1000">
                <a:solidFill>
                  <a:srgbClr val="333333"/>
                </a:solidFill>
                <a:latin typeface="Consolas"/>
              </a:defRPr>
            </a:pPr>
            <a:r>
              <a:t>public class Tarea {</a:t>
            </a:r>
          </a:p>
          <a:p>
            <a:pPr algn="l">
              <a:defRPr sz="1000">
                <a:solidFill>
                  <a:srgbClr val="333333"/>
                </a:solidFill>
                <a:latin typeface="Consolas"/>
              </a:defRPr>
            </a:pPr>
            <a:r>
              <a:t>    @Id @GeneratedValue ...</a:t>
            </a:r>
          </a:p>
          <a:p>
            <a:pPr algn="l">
              <a:defRPr sz="1000">
                <a:solidFill>
                  <a:srgbClr val="333333"/>
                </a:solidFill>
                <a:latin typeface="Consolas"/>
              </a:defRPr>
            </a:pPr>
            <a:r>
              <a:t>    private Long id;</a:t>
            </a:r>
          </a:p>
          <a:p>
            <a:pPr algn="l">
              <a:defRPr sz="10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 algn="l">
              <a:defRPr sz="1000">
                <a:solidFill>
                  <a:srgbClr val="333333"/>
                </a:solidFill>
                <a:latin typeface="Consolas"/>
              </a:defRPr>
            </a:pPr>
            <a:r>
              <a:t>    @Column(name = "proyecto_id")</a:t>
            </a:r>
          </a:p>
          <a:p>
            <a:pPr algn="l">
              <a:defRPr sz="1000">
                <a:solidFill>
                  <a:srgbClr val="333333"/>
                </a:solidFill>
                <a:latin typeface="Consolas"/>
              </a:defRPr>
            </a:pPr>
            <a:r>
              <a:t>    private Long proyectoId; // Referencia lógica (ID)</a:t>
            </a:r>
          </a:p>
          <a:p>
            <a:pPr algn="l">
              <a:defRPr sz="10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 algn="l">
              <a:defRPr sz="1000">
                <a:solidFill>
                  <a:srgbClr val="333333"/>
                </a:solidFill>
                <a:latin typeface="Consolas"/>
              </a:defRPr>
            </a:pPr>
            <a:r>
              <a:t>    @ElementCollection</a:t>
            </a:r>
          </a:p>
          <a:p>
            <a:pPr algn="l">
              <a:defRPr sz="1000">
                <a:solidFill>
                  <a:srgbClr val="333333"/>
                </a:solidFill>
                <a:latin typeface="Consolas"/>
              </a:defRPr>
            </a:pPr>
            <a:r>
              <a:t>    private List&lt;Long&gt; responsableIds; // IDs de Recursos</a:t>
            </a:r>
          </a:p>
          <a:p>
            <a:pPr algn="l">
              <a:defRPr sz="10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Arial"/>
              </a:defRPr>
            </a:pPr>
            <a:r>
              <a:t>Seguridad, Autenticación y JWT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218C8C"/>
          </a:solidFill>
          <a:ln>
            <a:solidFill>
              <a:srgbClr val="21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4E79"/>
                </a:solidFill>
                <a:latin typeface="Arial"/>
              </a:defRPr>
            </a:pPr>
            <a:r>
              <a:t>Modelo Stateless con JWT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• Autenticación sin Estado (Stateless):</a:t>
            </a:r>
            <a:r>
              <a:rPr sz="1250" b="0">
                <a:solidFill>
                  <a:srgbClr val="333333"/>
                </a:solidFill>
                <a:latin typeface="Arial"/>
              </a:rPr>
              <a:t> Los microservicios no guardan sesiones en memoria. Cada petición HTTP debe ser autenticada de manera independiente.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• Token JWT Firmado (HMAC-SHA256):</a:t>
            </a:r>
            <a:r>
              <a:rPr sz="1250" b="0">
                <a:solidFill>
                  <a:srgbClr val="333333"/>
                </a:solidFill>
                <a:latin typeface="Arial"/>
              </a:rPr>
              <a:t> El microservicio `ms-auth` valida las credenciales y responde con un token JSON Web Token que contiene el usuario, fecha de emisión, expiración y el rol asignado.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• Encriptación BCrypt (Factor de costo 10):</a:t>
            </a:r>
            <a:r>
              <a:rPr sz="1250" b="0">
                <a:solidFill>
                  <a:srgbClr val="333333"/>
                </a:solidFill>
                <a:latin typeface="Arial"/>
              </a:rPr>
              <a:t> Las contraseñas de los usuarios nunca se guardan en texto plano. Se encriptan con BCrypt de forma segura de una sola vía.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18C8C"/>
                </a:solidFill>
                <a:latin typeface="Arial"/>
              </a:defRPr>
            </a:pPr>
            <a:r>
              <a:t>Filtro JwtFilter en Spring Security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218C8C"/>
                </a:solidFill>
                <a:latin typeface="Arial"/>
              </a:rPr>
              <a:t>• Axios Interceptor (Frontend):</a:t>
            </a:r>
            <a:r>
              <a:rPr sz="1200" b="0">
                <a:solidFill>
                  <a:srgbClr val="333333"/>
                </a:solidFill>
                <a:latin typeface="Arial"/>
              </a:rPr>
              <a:t> React inyecta automáticamente el token de `localStorage` en el header `Authorization: Bearer &lt;token&gt;` de cada consulta REST.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218C8C"/>
                </a:solidFill>
                <a:latin typeface="Arial"/>
              </a:rPr>
              <a:t>• Filtro Interceptor (OncePerRequestFilter):</a:t>
            </a:r>
            <a:r>
              <a:rPr sz="1200" b="0">
                <a:solidFill>
                  <a:srgbClr val="333333"/>
                </a:solidFill>
                <a:latin typeface="Arial"/>
              </a:rPr>
              <a:t> `JwtFilter` en el backend intercepta la petición, valida la firma del token, extrae el usuario y rol (`ROLE_ADMIN`, `ROLE_JEFE_PROYECTO`, `ROLE_USUARIO`).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218C8C"/>
                </a:solidFill>
                <a:latin typeface="Arial"/>
              </a:rPr>
              <a:t>• SecurityContextHolder:</a:t>
            </a:r>
            <a:r>
              <a:rPr sz="1200" b="0">
                <a:solidFill>
                  <a:srgbClr val="333333"/>
                </a:solidFill>
                <a:latin typeface="Arial"/>
              </a:rPr>
              <a:t> Registra al usuario autenticado en Spring Security para autorizar o bloquear el acceso según las reglas de `SecurityConfig.java`.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218C8C"/>
                </a:solidFill>
                <a:latin typeface="Arial"/>
              </a:rPr>
              <a:t>• Expiración Automática:</a:t>
            </a:r>
            <a:r>
              <a:rPr sz="1200" b="0">
                <a:solidFill>
                  <a:srgbClr val="333333"/>
                </a:solidFill>
                <a:latin typeface="Arial"/>
              </a:rPr>
              <a:t> Los tokens expiran en </a:t>
            </a:r>
            <a:r>
              <a:rPr sz="1200" b="1">
                <a:solidFill>
                  <a:srgbClr val="218C8C"/>
                </a:solidFill>
                <a:latin typeface="Arial"/>
              </a:rPr>
              <a:t>10 minutos</a:t>
            </a:r>
            <a:r>
              <a:rPr sz="1200" b="0">
                <a:solidFill>
                  <a:srgbClr val="333333"/>
                </a:solidFill>
                <a:latin typeface="Arial"/>
              </a:rPr>
              <a:t> para mitigar riesgos de secuestro de token.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Arial"/>
              </a:defRPr>
            </a:pPr>
            <a:r>
              <a:t>Trazabilidad del Código y Flujo de una Petición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218C8C"/>
          </a:solidFill>
          <a:ln>
            <a:solidFill>
              <a:srgbClr val="21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1F4E79"/>
                </a:solidFill>
              </a:defRPr>
            </a:pPr>
            <a:r>
              <a:t>Ejemplo de flujo: Creación de una tarea en el sistema (End-to-End)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4114800"/>
          </a:xfrm>
          <a:prstGeom prst="rect">
            <a:avLst/>
          </a:prstGeom>
          <a:solidFill>
            <a:srgbClr val="F8F9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1F4E79"/>
                </a:solidFill>
                <a:latin typeface="Arial"/>
              </a:defRPr>
            </a:pPr>
            <a:r>
              <a:t>Paso 1</a:t>
            </a:r>
          </a:p>
          <a:p>
            <a:pPr>
              <a:spcBef>
                <a:spcPts val="800"/>
              </a:spcBef>
              <a:defRPr sz="1500" b="1">
                <a:solidFill>
                  <a:srgbClr val="333333"/>
                </a:solidFill>
                <a:latin typeface="Arial"/>
              </a:defRPr>
            </a:pPr>
            <a:r>
              <a:t>Frontend React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950">
                <a:solidFill>
                  <a:srgbClr val="C7254E"/>
                </a:solidFill>
                <a:latin typeface="Consolas"/>
              </a:defRPr>
            </a:pPr>
            <a:r>
              <a:t>Tareas.js ➔ api.js</a:t>
            </a:r>
          </a:p>
          <a:p>
            <a:pPr>
              <a:spcBef>
                <a:spcPts val="400"/>
              </a:spcBef>
              <a:defRPr sz="1100">
                <a:solidFill>
                  <a:srgbClr val="333333"/>
                </a:solidFill>
                <a:latin typeface="Arial"/>
              </a:defRPr>
            </a:pPr>
            <a:r>
              <a:t>El usuario completa el formulario y presiona 'Crear'. `api.js` ejecuta `axios.post('/tareas', data)` enviando la petición REST al puerto 8085.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828800"/>
            <a:ext cx="2560320" cy="4114800"/>
          </a:xfrm>
          <a:prstGeom prst="rect">
            <a:avLst/>
          </a:prstGeom>
          <a:solidFill>
            <a:srgbClr val="F8F9FA"/>
          </a:solidFill>
          <a:ln w="19050">
            <a:solidFill>
              <a:srgbClr val="21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218C8C"/>
                </a:solidFill>
                <a:latin typeface="Arial"/>
              </a:defRPr>
            </a:pPr>
            <a:r>
              <a:t>Paso 2</a:t>
            </a:r>
          </a:p>
          <a:p>
            <a:pPr>
              <a:spcBef>
                <a:spcPts val="800"/>
              </a:spcBef>
              <a:defRPr sz="1500" b="1">
                <a:solidFill>
                  <a:srgbClr val="333333"/>
                </a:solidFill>
                <a:latin typeface="Arial"/>
              </a:defRPr>
            </a:pPr>
            <a:r>
              <a:t>API Gateway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950">
                <a:solidFill>
                  <a:srgbClr val="C7254E"/>
                </a:solidFill>
                <a:latin typeface="Consolas"/>
              </a:defRPr>
            </a:pPr>
            <a:r>
              <a:t>application.properties</a:t>
            </a:r>
          </a:p>
          <a:p>
            <a:pPr>
              <a:spcBef>
                <a:spcPts val="400"/>
              </a:spcBef>
              <a:defRPr sz="1100">
                <a:solidFill>
                  <a:srgbClr val="333333"/>
                </a:solidFill>
                <a:latin typeface="Arial"/>
              </a:defRPr>
            </a:pPr>
            <a:r>
              <a:t>Recibe la petición HTTP en el puerto 8085. Su regla de ruteo detecta el path `/api/bff/**` y la redirige de forma transparente al puerto 8084 del BFF.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828800"/>
            <a:ext cx="2560320" cy="4114800"/>
          </a:xfrm>
          <a:prstGeom prst="rect">
            <a:avLst/>
          </a:prstGeom>
          <a:solidFill>
            <a:srgbClr val="F8F9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1F4E79"/>
                </a:solidFill>
                <a:latin typeface="Arial"/>
              </a:defRPr>
            </a:pPr>
            <a:r>
              <a:t>Paso 3</a:t>
            </a:r>
          </a:p>
          <a:p>
            <a:pPr>
              <a:spcBef>
                <a:spcPts val="800"/>
              </a:spcBef>
              <a:defRPr sz="1500" b="1">
                <a:solidFill>
                  <a:srgbClr val="333333"/>
                </a:solidFill>
                <a:latin typeface="Arial"/>
              </a:defRPr>
            </a:pPr>
            <a:r>
              <a:t>BFF (Backend For Frontend)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950">
                <a:solidFill>
                  <a:srgbClr val="C7254E"/>
                </a:solidFill>
                <a:latin typeface="Consolas"/>
              </a:defRPr>
            </a:pPr>
            <a:r>
              <a:t>BffController ➔ BffServiceImpl</a:t>
            </a:r>
          </a:p>
          <a:p>
            <a:pPr>
              <a:spcBef>
                <a:spcPts val="400"/>
              </a:spcBef>
              <a:defRPr sz="1100">
                <a:solidFill>
                  <a:srgbClr val="333333"/>
                </a:solidFill>
                <a:latin typeface="Arial"/>
              </a:defRPr>
            </a:pPr>
            <a:r>
              <a:t>Recibe la petición en el controlador. Su capa de servicio realiza una llamada HTTP interna usando `RestTemplate` hacia `ms-tareas` en el puerto 8086.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23960" y="1828800"/>
            <a:ext cx="2560320" cy="4114800"/>
          </a:xfrm>
          <a:prstGeom prst="rect">
            <a:avLst/>
          </a:prstGeom>
          <a:solidFill>
            <a:srgbClr val="F8F9FA"/>
          </a:solidFill>
          <a:ln w="19050">
            <a:solidFill>
              <a:srgbClr val="21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400" b="1">
                <a:solidFill>
                  <a:srgbClr val="218C8C"/>
                </a:solidFill>
                <a:latin typeface="Arial"/>
              </a:defRPr>
            </a:pPr>
            <a:r>
              <a:t>Paso 4</a:t>
            </a:r>
          </a:p>
          <a:p>
            <a:pPr>
              <a:spcBef>
                <a:spcPts val="800"/>
              </a:spcBef>
              <a:defRPr sz="1500" b="1">
                <a:solidFill>
                  <a:srgbClr val="333333"/>
                </a:solidFill>
                <a:latin typeface="Arial"/>
              </a:defRPr>
            </a:pPr>
            <a:r>
              <a:t>Microservicio &amp; BD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950">
                <a:solidFill>
                  <a:srgbClr val="C7254E"/>
                </a:solidFill>
                <a:latin typeface="Consolas"/>
              </a:defRPr>
            </a:pPr>
            <a:r>
              <a:t>TareaController ➔ TareaServiceImpl</a:t>
            </a:r>
          </a:p>
          <a:p>
            <a:pPr>
              <a:spcBef>
                <a:spcPts val="400"/>
              </a:spcBef>
              <a:defRPr sz="1100">
                <a:solidFill>
                  <a:srgbClr val="333333"/>
                </a:solidFill>
                <a:latin typeface="Arial"/>
              </a:defRPr>
            </a:pPr>
            <a:r>
              <a:t>Recibe la petición en el puerto 8086, aplica reglas de negocio y ejecuta `save()` en el repositorio. Hibernate genera el `INSERT` SQL y lo escribe en la base de datos H2 local.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Arial"/>
              </a:defRPr>
            </a:pPr>
            <a:r>
              <a:t>Pruebas Unitarias y Cobertura JaCoCo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218C8C"/>
          </a:solidFill>
          <a:ln>
            <a:solidFill>
              <a:srgbClr val="21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F4E79"/>
                </a:solidFill>
                <a:latin typeface="Arial"/>
              </a:defRPr>
            </a:pPr>
            <a:r>
              <a:t>Resultados de Cobertura de Código</a:t>
            </a:r>
          </a:p>
          <a:p>
            <a:pPr>
              <a:spcAft>
                <a:spcPts val="1200"/>
              </a:spcAft>
              <a:defRPr sz="1250" b="1">
                <a:solidFill>
                  <a:srgbClr val="218C8C"/>
                </a:solidFill>
              </a:defRPr>
            </a:pPr>
            <a:r>
              <a:t>Ejecución Limpia: 68 Pruebas Exitosas / 0 Fallas (Tasa de Éxito 100%)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92608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Módulo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Tests Exitosos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Cobertura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r>
                        <a:rPr sz="900"/>
                        <a:t>API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 /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8C8C"/>
                          </a:solidFill>
                        </a:rPr>
                        <a:t>APROBADO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r>
                        <a:rPr sz="900"/>
                        <a:t>BFF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22 / 22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85.06%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8C8C"/>
                          </a:solidFill>
                        </a:rPr>
                        <a:t>APROBADO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r>
                        <a:rPr sz="900"/>
                        <a:t>ms-auth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13 /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85.34%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8C8C"/>
                          </a:solidFill>
                        </a:rPr>
                        <a:t>APROBADO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r>
                        <a:rPr sz="900"/>
                        <a:t>ms-proyectos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10 / 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72.88%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8C8C"/>
                          </a:solidFill>
                        </a:rPr>
                        <a:t>APROBADO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r>
                        <a:rPr sz="900"/>
                        <a:t>ms-recursos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13 /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71.91%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8C8C"/>
                          </a:solidFill>
                        </a:rPr>
                        <a:t>APROBADO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r>
                        <a:rPr sz="900"/>
                        <a:t>ms-tareas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/>
                        <a:t>8 / 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/>
                        <a:t>69.14%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18C8C"/>
                          </a:solidFill>
                        </a:rPr>
                        <a:t>APROBADO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18C8C"/>
                </a:solidFill>
                <a:latin typeface="Arial"/>
              </a:defRPr>
            </a:pPr>
            <a:r>
              <a:t>Mockito y Aislamiento de Capas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218C8C"/>
                </a:solidFill>
                <a:latin typeface="Arial"/>
              </a:rPr>
              <a:t>• Slice Testing (Pruebas por capa):</a:t>
            </a:r>
            <a:r>
              <a:rPr sz="1200" b="0">
                <a:solidFill>
                  <a:srgbClr val="333333"/>
                </a:solidFill>
                <a:latin typeface="Arial"/>
              </a:rPr>
              <a:t> Se aíslan las dependencias externas en las pruebas de servicio (ej: base de datos) usando anotaciones `@Mock` y `@InjectMocks` de Mockito.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218C8C"/>
                </a:solidFill>
                <a:latin typeface="Arial"/>
              </a:rPr>
              <a:t>• Aislamiento del Repositorio:</a:t>
            </a:r>
            <a:r>
              <a:rPr sz="1200" b="0">
                <a:solidFill>
                  <a:srgbClr val="333333"/>
                </a:solidFill>
                <a:latin typeface="Arial"/>
              </a:rPr>
              <a:t> El repositorio H2 se mockea (`when(tareaRepository.findAll()).thenReturn(...)`) para verificar que las reglas de negocio de la clase de servicio funcionan de forma matemática independientemente de la base de datos.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218C8C"/>
                </a:solidFill>
                <a:latin typeface="Arial"/>
              </a:rPr>
              <a:t>• Lógica de KPIs Validada:</a:t>
            </a:r>
            <a:r>
              <a:rPr sz="1200" b="0">
                <a:solidFill>
                  <a:srgbClr val="333333"/>
                </a:solidFill>
                <a:latin typeface="Arial"/>
              </a:rPr>
              <a:t> Pruebas específicas para el cálculo de avance promedio de tareas, descarte de tareas bloqueadas y validación de fechas límite.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Arial"/>
              </a:defRPr>
            </a:pPr>
            <a:r>
              <a:t>Evidencias de SonarQube y GitHub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218C8C"/>
          </a:solidFill>
          <a:ln>
            <a:solidFill>
              <a:srgbClr val="21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onarqube_ev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5486400" cy="3017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120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787878"/>
                </a:solidFill>
              </a:defRPr>
            </a:pPr>
            <a:r>
              <a:t>Captura: Dashboard Final de SonarQube (6 módulos analizados con Quality Gate aprobado)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4E79"/>
                </a:solidFill>
                <a:latin typeface="Arial"/>
              </a:defRPr>
            </a:pPr>
            <a:r>
              <a:t>Gestión de Calidad y Ciclo Git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F4E79"/>
                </a:solidFill>
                <a:latin typeface="Arial"/>
              </a:rPr>
              <a:t>• Pruebas y Cobertura JaCoCo:</a:t>
            </a:r>
            <a:r>
              <a:rPr sz="1100" b="0">
                <a:solidFill>
                  <a:srgbClr val="333333"/>
                </a:solidFill>
                <a:latin typeface="Arial"/>
              </a:rPr>
              <a:t> Se integró el plugin de cobertura JaCoCo en cada microservicio, asegurando una cobertura promedio superior al </a:t>
            </a:r>
            <a:r>
              <a:rPr sz="1100" b="1">
                <a:solidFill>
                  <a:srgbClr val="1F4E79"/>
                </a:solidFill>
                <a:latin typeface="Arial"/>
              </a:rPr>
              <a:t>80%</a:t>
            </a:r>
            <a:r>
              <a:rPr sz="1100" b="0">
                <a:solidFill>
                  <a:srgbClr val="333333"/>
                </a:solidFill>
                <a:latin typeface="Arial"/>
              </a:rPr>
              <a:t> (umbral de la pauta &gt;60%).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F4E79"/>
                </a:solidFill>
                <a:latin typeface="Arial"/>
              </a:rPr>
              <a:t>• Análisis Estático con SonarQube:</a:t>
            </a:r>
            <a:r>
              <a:rPr sz="1100" b="0">
                <a:solidFill>
                  <a:srgbClr val="333333"/>
                </a:solidFill>
                <a:latin typeface="Arial"/>
              </a:rPr>
              <a:t> Configuración y ejecución segura de análisis estático local usando tokens independientes por microservicio para el Quality Gate.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F4E79"/>
                </a:solidFill>
                <a:latin typeface="Arial"/>
              </a:rPr>
              <a:t>• GitHub Flow &amp; Feature Branches:</a:t>
            </a:r>
            <a:r>
              <a:rPr sz="1100" b="0">
                <a:solidFill>
                  <a:srgbClr val="333333"/>
                </a:solidFill>
                <a:latin typeface="Arial"/>
              </a:rPr>
              <a:t> Desarrollo distribuido en ramas de características (`feature/backend-ev3-tareas-kpi` y `feature/backend-ev3-testing-matias-bello`).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F4E79"/>
                </a:solidFill>
                <a:latin typeface="Arial"/>
              </a:rPr>
              <a:t>• Commits por Avance Granular:</a:t>
            </a:r>
            <a:r>
              <a:rPr sz="1100" b="0">
                <a:solidFill>
                  <a:srgbClr val="333333"/>
                </a:solidFill>
                <a:latin typeface="Arial"/>
              </a:rPr>
              <a:t> Control de versiones ordenado y descriptivo con commits incrementales que evidencian el avance técnico.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1F4E79"/>
                </a:solidFill>
                <a:latin typeface="Arial"/>
              </a:rPr>
              <a:t>• Integración vía Pull Requests:</a:t>
            </a:r>
            <a:r>
              <a:rPr sz="1100" b="0">
                <a:solidFill>
                  <a:srgbClr val="333333"/>
                </a:solidFill>
                <a:latin typeface="Arial"/>
              </a:rPr>
              <a:t> Las ramas de trabajo se fusionaron a la rama `main` tras validaciones de compilación y calidad estática en GitHub.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Arial"/>
              </a:defRPr>
            </a:pPr>
            <a:r>
              <a:t>Evidencias Visuales de la Aplicación y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218C8C"/>
          </a:solidFill>
          <a:ln>
            <a:solidFill>
              <a:srgbClr val="21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4663440"/>
            <a:ext cx="32918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4E79"/>
                </a:solidFill>
                <a:latin typeface="Arial"/>
              </a:defRPr>
            </a:pPr>
            <a:r>
              <a:t>Dashboard General de KPIs</a:t>
            </a:r>
          </a:p>
          <a:p>
            <a:pPr>
              <a:defRPr sz="1050">
                <a:solidFill>
                  <a:srgbClr val="333333"/>
                </a:solidFill>
                <a:latin typeface="Arial"/>
              </a:defRPr>
            </a:pPr>
            <a:r>
              <a:t>Visualización del avance promedio de tareas y gráficos dinámicos integrados en el frontend React.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4663440"/>
            <a:ext cx="32918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18C8C"/>
                </a:solidFill>
                <a:latin typeface="Arial"/>
              </a:defRPr>
            </a:pPr>
            <a:r>
              <a:rPr dirty="0"/>
              <a:t>Pantalla de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Tareas</a:t>
            </a:r>
            <a:endParaRPr dirty="0"/>
          </a:p>
          <a:p>
            <a:pPr>
              <a:defRPr sz="1050">
                <a:solidFill>
                  <a:srgbClr val="333333"/>
                </a:solidFill>
                <a:latin typeface="Arial"/>
              </a:defRPr>
            </a:pPr>
            <a:r>
              <a:rPr dirty="0" err="1"/>
              <a:t>Interfaz</a:t>
            </a:r>
            <a:r>
              <a:rPr dirty="0"/>
              <a:t> </a:t>
            </a:r>
            <a:r>
              <a:rPr dirty="0" err="1"/>
              <a:t>interactiva</a:t>
            </a:r>
            <a:r>
              <a:rPr dirty="0"/>
              <a:t> para la </a:t>
            </a:r>
            <a:r>
              <a:rPr dirty="0" err="1"/>
              <a:t>creación</a:t>
            </a:r>
            <a:r>
              <a:rPr dirty="0"/>
              <a:t> y </a:t>
            </a:r>
            <a:r>
              <a:rPr dirty="0" err="1"/>
              <a:t>asignación</a:t>
            </a:r>
            <a:r>
              <a:rPr dirty="0"/>
              <a:t> </a:t>
            </a:r>
            <a:r>
              <a:rPr dirty="0" err="1"/>
              <a:t>lógica</a:t>
            </a:r>
            <a:r>
              <a:rPr dirty="0"/>
              <a:t> de </a:t>
            </a:r>
            <a:r>
              <a:rPr dirty="0" err="1"/>
              <a:t>responsabilidades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proyecto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7167" y="4486644"/>
            <a:ext cx="329184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F4E79"/>
                </a:solidFill>
                <a:latin typeface="Arial"/>
              </a:defRPr>
            </a:pPr>
            <a:r>
              <a:rPr dirty="0" err="1"/>
              <a:t>Reporte</a:t>
            </a:r>
            <a:r>
              <a:rPr dirty="0"/>
              <a:t> de </a:t>
            </a:r>
            <a:r>
              <a:rPr dirty="0" err="1"/>
              <a:t>Cobertura</a:t>
            </a:r>
            <a:r>
              <a:rPr dirty="0"/>
              <a:t> </a:t>
            </a:r>
            <a:r>
              <a:rPr dirty="0" err="1"/>
              <a:t>JaCoCo</a:t>
            </a:r>
            <a:endParaRPr dirty="0"/>
          </a:p>
          <a:p>
            <a:pPr>
              <a:defRPr sz="1050">
                <a:solidFill>
                  <a:srgbClr val="333333"/>
                </a:solidFill>
                <a:latin typeface="Arial"/>
              </a:defRPr>
            </a:pPr>
            <a:r>
              <a:rPr dirty="0" err="1"/>
              <a:t>Evidencia</a:t>
            </a:r>
            <a:r>
              <a:rPr dirty="0"/>
              <a:t> de </a:t>
            </a: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unitarias</a:t>
            </a:r>
            <a:r>
              <a:rPr dirty="0"/>
              <a:t> locales </a:t>
            </a:r>
            <a:r>
              <a:rPr dirty="0" err="1"/>
              <a:t>superando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umbral de la </a:t>
            </a:r>
            <a:r>
              <a:rPr dirty="0" err="1"/>
              <a:t>pauta</a:t>
            </a:r>
            <a:r>
              <a:rPr dirty="0"/>
              <a:t> (&gt;60%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módulos</a:t>
            </a:r>
            <a:r>
              <a:rPr dirty="0"/>
              <a:t>).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F2091DC-06B0-BEA4-7BDC-C7D23DB9C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1652" y="2050220"/>
            <a:ext cx="4415048" cy="225158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A2B782D-DC4F-F2F7-6A4B-0F8ADF0E7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967" y="2094727"/>
            <a:ext cx="4175017" cy="216256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878A39D-250F-7642-5A26-D1389AF6B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4292" y="2276685"/>
            <a:ext cx="3816457" cy="1798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Arial"/>
              </a:defRPr>
            </a:pPr>
            <a:r>
              <a:t>Guía de la Demostración Práctica (Demo)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218C8C"/>
          </a:solidFill>
          <a:ln>
            <a:solidFill>
              <a:srgbClr val="21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560320" cy="3840480"/>
          </a:xfrm>
          <a:prstGeom prst="rect">
            <a:avLst/>
          </a:prstGeom>
          <a:solidFill>
            <a:srgbClr val="1F4E79"/>
          </a:solidFill>
          <a:ln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300" b="1">
                <a:solidFill>
                  <a:srgbClr val="218C8C"/>
                </a:solidFill>
                <a:latin typeface="Arial"/>
              </a:defRPr>
            </a:pPr>
            <a:r>
              <a:t>Fase 1</a:t>
            </a:r>
          </a:p>
          <a:p>
            <a:pPr>
              <a:spcBef>
                <a:spcPts val="600"/>
              </a:spcBef>
              <a:defRPr sz="1600" b="1">
                <a:solidFill>
                  <a:srgbClr val="F0F6FC"/>
                </a:solidFill>
                <a:latin typeface="Arial"/>
              </a:defRPr>
            </a:pPr>
            <a:r>
              <a:t>Levantamiento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950" b="1">
                <a:solidFill>
                  <a:srgbClr val="F8F9FA"/>
                </a:solidFill>
                <a:latin typeface="Consolas"/>
              </a:defRPr>
            </a:pPr>
            <a:r>
              <a:t>docker compose up -d</a:t>
            </a:r>
          </a:p>
          <a:p>
            <a:pPr>
              <a:spcBef>
                <a:spcPts val="400"/>
              </a:spcBef>
              <a:defRPr sz="1150">
                <a:solidFill>
                  <a:srgbClr val="F0F6FC"/>
                </a:solidFill>
                <a:latin typeface="Arial"/>
              </a:defRPr>
            </a:pPr>
            <a:r>
              <a:t>Iniciar Docker Desktop. Levantar los 7 contenedores (API Gateway, BFF, microservicios, base de datos H2 y frontend en puerto 3000).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645920"/>
            <a:ext cx="2560320" cy="3840480"/>
          </a:xfrm>
          <a:prstGeom prst="rect">
            <a:avLst/>
          </a:prstGeom>
          <a:solidFill>
            <a:srgbClr val="218C8C"/>
          </a:solidFill>
          <a:ln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300" b="1">
                <a:solidFill>
                  <a:srgbClr val="F8F9FA"/>
                </a:solidFill>
                <a:latin typeface="Arial"/>
              </a:defRPr>
            </a:pPr>
            <a:r>
              <a:t>Fase 2</a:t>
            </a:r>
          </a:p>
          <a:p>
            <a:pPr>
              <a:spcBef>
                <a:spcPts val="600"/>
              </a:spcBef>
              <a:defRPr sz="1600" b="1">
                <a:solidFill>
                  <a:srgbClr val="F0F6FC"/>
                </a:solidFill>
                <a:latin typeface="Arial"/>
              </a:defRPr>
            </a:pPr>
            <a:r>
              <a:t>H2 Consola &amp; Roles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950" b="1">
                <a:solidFill>
                  <a:srgbClr val="1F4E79"/>
                </a:solidFill>
                <a:latin typeface="Consolas"/>
              </a:defRPr>
            </a:pPr>
            <a:r>
              <a:t>http://localhost:8083</a:t>
            </a:r>
          </a:p>
          <a:p>
            <a:pPr>
              <a:spcBef>
                <a:spcPts val="400"/>
              </a:spcBef>
              <a:defRPr sz="1150">
                <a:solidFill>
                  <a:srgbClr val="F0F6FC"/>
                </a:solidFill>
                <a:latin typeface="Arial"/>
              </a:defRPr>
            </a:pPr>
            <a:r>
              <a:t>Registrar usuarios de prueba en la web. Entrar a la consola H2 del ms-auth y ejecutar los updates SQL para asignar roles (ADMIN, JEFE_PROYECTO).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645920"/>
            <a:ext cx="2560320" cy="3840480"/>
          </a:xfrm>
          <a:prstGeom prst="rect">
            <a:avLst/>
          </a:prstGeom>
          <a:solidFill>
            <a:srgbClr val="1F4E79"/>
          </a:solidFill>
          <a:ln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300" b="1">
                <a:solidFill>
                  <a:srgbClr val="218C8C"/>
                </a:solidFill>
                <a:latin typeface="Arial"/>
              </a:defRPr>
            </a:pPr>
            <a:r>
              <a:t>Fase 3</a:t>
            </a:r>
          </a:p>
          <a:p>
            <a:pPr>
              <a:spcBef>
                <a:spcPts val="600"/>
              </a:spcBef>
              <a:defRPr sz="1600" b="1">
                <a:solidFill>
                  <a:srgbClr val="F0F6FC"/>
                </a:solidFill>
                <a:latin typeface="Arial"/>
              </a:defRPr>
            </a:pPr>
            <a:r>
              <a:t>Flujo de Negocio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950" b="1">
                <a:solidFill>
                  <a:srgbClr val="F8F9FA"/>
                </a:solidFill>
                <a:latin typeface="Consolas"/>
              </a:defRPr>
            </a:pPr>
            <a:r>
              <a:t>Crear y Asignar</a:t>
            </a:r>
          </a:p>
          <a:p>
            <a:pPr>
              <a:spcBef>
                <a:spcPts val="400"/>
              </a:spcBef>
              <a:defRPr sz="1150">
                <a:solidFill>
                  <a:srgbClr val="F0F6FC"/>
                </a:solidFill>
                <a:latin typeface="Arial"/>
              </a:defRPr>
            </a:pPr>
            <a:r>
              <a:t>Iniciar como ADMIN y crear proyectos/empleados. Asignar proyectos a empleados. Crear tareas y asignar responsables desde ms-tareas.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823960" y="1645920"/>
            <a:ext cx="2560320" cy="3840480"/>
          </a:xfrm>
          <a:prstGeom prst="rect">
            <a:avLst/>
          </a:prstGeom>
          <a:solidFill>
            <a:srgbClr val="218C8C"/>
          </a:solidFill>
          <a:ln>
            <a:solidFill>
              <a:srgbClr val="F0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tlCol="0" anchor="ctr"/>
          <a:lstStyle/>
          <a:p>
            <a:pPr algn="ctr">
              <a:defRPr sz="1300" b="1">
                <a:solidFill>
                  <a:srgbClr val="F8F9FA"/>
                </a:solidFill>
                <a:latin typeface="Arial"/>
              </a:defRPr>
            </a:pPr>
            <a:r>
              <a:t>Fase 4</a:t>
            </a:r>
          </a:p>
          <a:p>
            <a:pPr>
              <a:spcBef>
                <a:spcPts val="600"/>
              </a:spcBef>
              <a:defRPr sz="1600" b="1">
                <a:solidFill>
                  <a:srgbClr val="F0F6FC"/>
                </a:solidFill>
                <a:latin typeface="Arial"/>
              </a:defRPr>
            </a:pPr>
            <a:r>
              <a:t>Validar Permisos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950" b="1">
                <a:solidFill>
                  <a:srgbClr val="1F4E79"/>
                </a:solidFill>
                <a:latin typeface="Consolas"/>
              </a:defRPr>
            </a:pPr>
            <a:r>
              <a:t>Jerarquía de Roles</a:t>
            </a:r>
          </a:p>
          <a:p>
            <a:pPr>
              <a:spcBef>
                <a:spcPts val="400"/>
              </a:spcBef>
              <a:defRPr sz="1150">
                <a:solidFill>
                  <a:srgbClr val="F0F6FC"/>
                </a:solidFill>
                <a:latin typeface="Arial"/>
              </a:defRPr>
            </a:pPr>
            <a:r>
              <a:t>Iniciar como JEFE_PROYECTO (bloquear eliminar) y USUARIO (solo lectura). Actualizar avance de tarea y ver cambios de KPIs en el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F4E79"/>
                </a:solidFill>
                <a:latin typeface="Arial"/>
              </a:defRPr>
            </a:pPr>
            <a:r>
              <a:t>Conclusión y Próximos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218C8C"/>
          </a:solidFill>
          <a:ln>
            <a:solidFill>
              <a:srgbClr val="21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F4E79"/>
                </a:solidFill>
                <a:latin typeface="Arial"/>
              </a:defRPr>
            </a:pPr>
            <a:r>
              <a:t>Conclusiones del Proyecto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• Cumplimiento de Pauta:</a:t>
            </a:r>
            <a:r>
              <a:rPr sz="1250" b="0">
                <a:solidFill>
                  <a:srgbClr val="333333"/>
                </a:solidFill>
                <a:latin typeface="Arial"/>
              </a:rPr>
              <a:t> Se integró la gestión de tareas y cálculo de KPIs mediante la arquitectura de microservicios BFF/Gateway cumpliendo el 100% de los criterios.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• Gate de Calidad Superado:</a:t>
            </a:r>
            <a:r>
              <a:rPr sz="1250" b="0">
                <a:solidFill>
                  <a:srgbClr val="333333"/>
                </a:solidFill>
                <a:latin typeface="Arial"/>
              </a:rPr>
              <a:t> Cobertura de backend promedio por encima del </a:t>
            </a:r>
            <a:r>
              <a:rPr sz="1250" b="1">
                <a:solidFill>
                  <a:srgbClr val="1F4E79"/>
                </a:solidFill>
                <a:latin typeface="Arial"/>
              </a:rPr>
              <a:t>80%</a:t>
            </a:r>
            <a:r>
              <a:rPr sz="1250" b="0">
                <a:solidFill>
                  <a:srgbClr val="333333"/>
                </a:solidFill>
                <a:latin typeface="Arial"/>
              </a:rPr>
              <a:t> en módulos de negocio, garantizando robustez sin regresiones.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1F4E79"/>
                </a:solidFill>
                <a:latin typeface="Arial"/>
              </a:rPr>
              <a:t>• Contenedores Listos para Escalar:</a:t>
            </a:r>
            <a:r>
              <a:rPr sz="1250" b="0">
                <a:solidFill>
                  <a:srgbClr val="333333"/>
                </a:solidFill>
                <a:latin typeface="Arial"/>
              </a:rPr>
              <a:t> El uso de Docker independiza la infraestructura física y habilita el despliegue automático en la nube.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218C8C"/>
                </a:solidFill>
                <a:latin typeface="Arial"/>
              </a:defRPr>
            </a:pPr>
            <a:r>
              <a:t>Próximos Pasos y Escalabilidad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18C8C"/>
                </a:solidFill>
                <a:latin typeface="Arial"/>
              </a:rPr>
              <a:t>• Base de Datos Persistente:</a:t>
            </a:r>
            <a:r>
              <a:rPr sz="1250" b="0">
                <a:solidFill>
                  <a:srgbClr val="333333"/>
                </a:solidFill>
                <a:latin typeface="Arial"/>
              </a:rPr>
              <a:t> Reemplazar las bases de datos en memoria H2 por instancias persistentes e independientes de PostgreSQL en contenedores Docker.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18C8C"/>
                </a:solidFill>
                <a:latin typeface="Arial"/>
              </a:rPr>
              <a:t>• Pipeline CI/CD Automatizado:</a:t>
            </a:r>
            <a:r>
              <a:rPr sz="1250" b="0">
                <a:solidFill>
                  <a:srgbClr val="333333"/>
                </a:solidFill>
                <a:latin typeface="Arial"/>
              </a:rPr>
              <a:t> Implementar GitHub Actions para compilar, probar (`mvn test`) y escanear en SonarQube automáticamente en cada Pull Request.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218C8C"/>
                </a:solidFill>
                <a:latin typeface="Arial"/>
              </a:rPr>
              <a:t>• Orquestación en la Nube:</a:t>
            </a:r>
            <a:r>
              <a:rPr sz="1250" b="0">
                <a:solidFill>
                  <a:srgbClr val="333333"/>
                </a:solidFill>
                <a:latin typeface="Arial"/>
              </a:rPr>
              <a:t> Desplegar los contenedores en un cluster de Kubernetes o AWS ECS/Fargate para habilitar el auto-escalado horizontal de réplicas.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1723</Words>
  <Application>Microsoft Office PowerPoint</Application>
  <PresentationFormat>Panorámica</PresentationFormat>
  <Paragraphs>144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Maty Bello</dc:creator>
  <cp:keywords/>
  <dc:description>generated using python-pptx</dc:description>
  <cp:lastModifiedBy>Maty Bello</cp:lastModifiedBy>
  <cp:revision>1</cp:revision>
  <dcterms:created xsi:type="dcterms:W3CDTF">2013-01-27T09:14:16Z</dcterms:created>
  <dcterms:modified xsi:type="dcterms:W3CDTF">2026-06-17T00:16:29Z</dcterms:modified>
  <cp:category/>
</cp:coreProperties>
</file>